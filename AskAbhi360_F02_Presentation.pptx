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19"/>
          </a:solidFill>
          <a:ln>
            <a:solidFill>
              <a:srgbClr val="0B16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AAFA9"/>
                </a:solidFill>
              </a:defRPr>
            </a:pPr>
            <a:r>
              <a:t>✦ HACKATHON PITCH DECK · PROBLEM STATEMENT F-02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EFFFF"/>
                </a:solidFill>
              </a:defRPr>
            </a:pPr>
            <a:r>
              <a:t>AskAbhi 360: Multi-Goal Financial Planning Under Uncertainty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EAEAB"/>
                </a:solidFill>
              </a:defRPr>
            </a:pPr>
            <a:r>
              <a:t>A deterministic decision-support copilot navigating competing life priorities, stochastic market volatility, and life shocks.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383280" cy="3931920"/>
          </a:xfrm>
          <a:prstGeom prst="rect">
            <a:avLst/>
          </a:prstGeom>
          <a:solidFill>
            <a:srgbClr val="17252A"/>
          </a:solidFill>
          <a:ln w="1905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AAFA9"/>
                </a:solidFill>
              </a:defRPr>
            </a:pPr>
            <a:r>
              <a:t>🎯 Multi-Goal Priority Engine</a:t>
            </a:r>
          </a:p>
          <a:p>
            <a:pPr>
              <a:lnSpc>
                <a:spcPct val="130000"/>
              </a:lnSpc>
              <a:defRPr sz="1200">
                <a:solidFill>
                  <a:srgbClr val="FEFFFF"/>
                </a:solidFill>
              </a:defRPr>
            </a:pPr>
            <a:r>
              <a:t>Sequential waterfall allocation: Living Obligations → Emergency Floor → Hard Goals → Flexible Milestones.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103120"/>
            <a:ext cx="3383280" cy="3931920"/>
          </a:xfrm>
          <a:prstGeom prst="rect">
            <a:avLst/>
          </a:prstGeom>
          <a:solidFill>
            <a:srgbClr val="17252A"/>
          </a:solidFill>
          <a:ln w="1905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AAFA9"/>
                </a:solidFill>
              </a:defRPr>
            </a:pPr>
            <a:r>
              <a:t>🎲 Stochastic Monte Carlo Core</a:t>
            </a:r>
          </a:p>
          <a:p>
            <a:pPr>
              <a:lnSpc>
                <a:spcPct val="130000"/>
              </a:lnSpc>
              <a:defRPr sz="1200">
                <a:solidFill>
                  <a:srgbClr val="FEFFFF"/>
                </a:solidFill>
              </a:defRPr>
            </a:pPr>
            <a:r>
              <a:t>2,000 correlated simulations under Common Random Numbers (CRN) with category-specific stochastic inflation.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103120"/>
            <a:ext cx="3383280" cy="3931920"/>
          </a:xfrm>
          <a:prstGeom prst="rect">
            <a:avLst/>
          </a:prstGeom>
          <a:solidFill>
            <a:srgbClr val="17252A"/>
          </a:solidFill>
          <a:ln w="1905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AAFA9"/>
                </a:solidFill>
              </a:defRPr>
            </a:pPr>
            <a:r>
              <a:t>🛡️ Grounded AI Copilot (Abhi 🚀)</a:t>
            </a:r>
          </a:p>
          <a:p>
            <a:pPr>
              <a:lnSpc>
                <a:spcPct val="130000"/>
              </a:lnSpc>
              <a:defRPr sz="1200">
                <a:solidFill>
                  <a:srgbClr val="FEFFFF"/>
                </a:solidFill>
              </a:defRPr>
            </a:pPr>
            <a:r>
              <a:t>Zero hallucinated balances. Verifiable proofs and mathematical audit trails for every recommendation.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EAEAB"/>
                </a:solidFill>
              </a:defRPr>
            </a:pPr>
            <a:r>
              <a:t>AskAbhi 360 · Grounded Multi-Goal Decision Support Engine · Live at http://localhost:8508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19"/>
          </a:solidFill>
          <a:ln>
            <a:solidFill>
              <a:srgbClr val="0B16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AAFA9"/>
                </a:solidFill>
              </a:defRPr>
            </a:pPr>
            <a:r>
              <a:t>PROBLEM DECONSTRUCTION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EFFFF"/>
                </a:solidFill>
              </a:defRPr>
            </a:pPr>
            <a:r>
              <a:t>The Real-World Reality of Problem Statement F-02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EAEAB"/>
                </a:solidFill>
              </a:defRPr>
            </a:pPr>
            <a:r>
              <a:t>Why traditional financial planning spreadsheets and generic AI chatbots fail.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383280" cy="3931920"/>
          </a:xfrm>
          <a:prstGeom prst="rect">
            <a:avLst/>
          </a:prstGeom>
          <a:solidFill>
            <a:srgbClr val="17252A"/>
          </a:solidFill>
          <a:ln w="1905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AAFA9"/>
                </a:solidFill>
              </a:defRPr>
            </a:pPr>
            <a:r>
              <a:t>❌ Why Spreadsheets Fail</a:t>
            </a:r>
          </a:p>
          <a:p>
            <a:pPr>
              <a:lnSpc>
                <a:spcPct val="130000"/>
              </a:lnSpc>
              <a:defRPr sz="1200">
                <a:solidFill>
                  <a:srgbClr val="FEFFFF"/>
                </a:solidFill>
              </a:defRPr>
            </a:pPr>
            <a:r>
              <a:t>Spreadsheets assume flat 8% returns and flat 6% inflation, ignoring market downturns and higher education (9%) or medical (11%) inflation drift.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103120"/>
            <a:ext cx="3383280" cy="3931920"/>
          </a:xfrm>
          <a:prstGeom prst="rect">
            <a:avLst/>
          </a:prstGeom>
          <a:solidFill>
            <a:srgbClr val="17252A"/>
          </a:solidFill>
          <a:ln w="1905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AAFA9"/>
                </a:solidFill>
              </a:defRPr>
            </a:pPr>
            <a:r>
              <a:t>❌ Why LLMs &amp; Chatbots Fail</a:t>
            </a:r>
          </a:p>
          <a:p>
            <a:pPr>
              <a:lnSpc>
                <a:spcPct val="130000"/>
              </a:lnSpc>
              <a:defRPr sz="1200">
                <a:solidFill>
                  <a:srgbClr val="FEFFFF"/>
                </a:solidFill>
              </a:defRPr>
            </a:pPr>
            <a:r>
              <a:t>Generic LLMs invent savings totals and lack stochastic mathematical cores, producing unverifiable advice with zero banking interactivity.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103120"/>
            <a:ext cx="3383280" cy="3931920"/>
          </a:xfrm>
          <a:prstGeom prst="rect">
            <a:avLst/>
          </a:prstGeom>
          <a:solidFill>
            <a:srgbClr val="17252A"/>
          </a:solidFill>
          <a:ln w="1905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AAFA9"/>
                </a:solidFill>
              </a:defRPr>
            </a:pPr>
            <a:r>
              <a:t>💡 The F-02 Core Requirement</a:t>
            </a:r>
          </a:p>
          <a:p>
            <a:pPr>
              <a:lnSpc>
                <a:spcPct val="130000"/>
              </a:lnSpc>
              <a:defRPr sz="1200">
                <a:solidFill>
                  <a:srgbClr val="FEFFFF"/>
                </a:solidFill>
              </a:defRPr>
            </a:pPr>
            <a:r>
              <a:t>Users must be able to evaluate competing goals, modify assumptions, simulate life shocks, and understand consequences over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EAEAB"/>
                </a:solidFill>
              </a:defRPr>
            </a:pPr>
            <a:r>
              <a:t>AskAbhi 360 · Grounded Multi-Goal Decision Support Engine · Live at http://localhost:8508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19"/>
          </a:solidFill>
          <a:ln>
            <a:solidFill>
              <a:srgbClr val="0B16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AAFA9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EFFFF"/>
                </a:solidFill>
              </a:defRPr>
            </a:pPr>
            <a:r>
              <a:t>AskAbhi 360: Three-Tier Grounded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EAEAB"/>
                </a:solidFill>
              </a:defRPr>
            </a:pPr>
            <a:r>
              <a:t>Clean separation between mathematical deterministic computation and conversational guidance.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383280" cy="3931920"/>
          </a:xfrm>
          <a:prstGeom prst="rect">
            <a:avLst/>
          </a:prstGeom>
          <a:solidFill>
            <a:srgbClr val="17252A"/>
          </a:solidFill>
          <a:ln w="1905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AAFA9"/>
                </a:solidFill>
              </a:defRPr>
            </a:pPr>
            <a:r>
              <a:t>🖥️ Tier 1: Interactive UI Shell</a:t>
            </a:r>
          </a:p>
          <a:p>
            <a:pPr>
              <a:lnSpc>
                <a:spcPct val="130000"/>
              </a:lnSpc>
              <a:defRPr sz="1200">
                <a:solidFill>
                  <a:srgbClr val="FEFFFF"/>
                </a:solidFill>
              </a:defRPr>
            </a:pPr>
            <a:r>
              <a:t>Fintech Command Center with 90-day cash radar, Value/Turbo Mode toggle, touch-friendly wallet, and sound effects.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103120"/>
            <a:ext cx="3383280" cy="3931920"/>
          </a:xfrm>
          <a:prstGeom prst="rect">
            <a:avLst/>
          </a:prstGeom>
          <a:solidFill>
            <a:srgbClr val="17252A"/>
          </a:solidFill>
          <a:ln w="1905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AAFA9"/>
                </a:solidFill>
              </a:defRPr>
            </a:pPr>
            <a:r>
              <a:t>🚀 Tier 2: AskAbhi AI Copilot</a:t>
            </a:r>
          </a:p>
          <a:p>
            <a:pPr>
              <a:lnSpc>
                <a:spcPct val="130000"/>
              </a:lnSpc>
              <a:defRPr sz="1200">
                <a:solidFill>
                  <a:srgbClr val="FEFFFF"/>
                </a:solidFill>
              </a:defRPr>
            </a:pPr>
            <a:r>
              <a:t>Empathetic companion powered by offline deterministic tool routing, displaying verifiable proofs and mathematical evidence trails.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103120"/>
            <a:ext cx="3383280" cy="3931920"/>
          </a:xfrm>
          <a:prstGeom prst="rect">
            <a:avLst/>
          </a:prstGeom>
          <a:solidFill>
            <a:srgbClr val="17252A"/>
          </a:solidFill>
          <a:ln w="1905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AAFA9"/>
                </a:solidFill>
              </a:defRPr>
            </a:pPr>
            <a:r>
              <a:t>⚙️ Tier 3: Deterministic Math Core</a:t>
            </a:r>
          </a:p>
          <a:p>
            <a:pPr>
              <a:lnSpc>
                <a:spcPct val="130000"/>
              </a:lnSpc>
              <a:defRPr sz="1200">
                <a:solidFill>
                  <a:srgbClr val="FEFFFF"/>
                </a:solidFill>
              </a:defRPr>
            </a:pPr>
            <a:r>
              <a:t>2,000-draw correlated Monte Carlo, Priority Arbiter, Goal Conflict Matrix, Chaos Stress Testing, and Behaviour Twin.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EAEAB"/>
                </a:solidFill>
              </a:defRPr>
            </a:pPr>
            <a:r>
              <a:t>AskAbhi 360 · Grounded Multi-Goal Decision Support Engine · Live at http://localhost:8508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19"/>
          </a:solidFill>
          <a:ln>
            <a:solidFill>
              <a:srgbClr val="0B16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AAFA9"/>
                </a:solidFill>
              </a:defRPr>
            </a:pPr>
            <a:r>
              <a:t>MULTI-GOAL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EFFFF"/>
                </a:solidFill>
              </a:defRPr>
            </a:pPr>
            <a:r>
              <a:t>Priority Arbiter &amp; Goal Conflict Sensitivity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EAEAB"/>
                </a:solidFill>
              </a:defRPr>
            </a:pPr>
            <a:r>
              <a:t>Resolving simultaneous competing demands on finite monthly income.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383280" cy="3931920"/>
          </a:xfrm>
          <a:prstGeom prst="rect">
            <a:avLst/>
          </a:prstGeom>
          <a:solidFill>
            <a:srgbClr val="17252A"/>
          </a:solidFill>
          <a:ln w="1905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AAFA9"/>
                </a:solidFill>
              </a:defRPr>
            </a:pPr>
            <a:r>
              <a:t>🌊 Capital Allocation Waterfall</a:t>
            </a:r>
          </a:p>
          <a:p>
            <a:pPr>
              <a:lnSpc>
                <a:spcPct val="130000"/>
              </a:lnSpc>
              <a:defRPr sz="1200">
                <a:solidFill>
                  <a:srgbClr val="FEFFFF"/>
                </a:solidFill>
              </a:defRPr>
            </a:pPr>
            <a:r>
              <a:t>1. Contractual EMIs → 2. Essential Living Spend → 3. Emergency Reserve Floor → 4. Hard Goals (P1) → 5. Flexible Goals (P2/P3).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103120"/>
            <a:ext cx="3383280" cy="3931920"/>
          </a:xfrm>
          <a:prstGeom prst="rect">
            <a:avLst/>
          </a:prstGeom>
          <a:solidFill>
            <a:srgbClr val="17252A"/>
          </a:solidFill>
          <a:ln w="1905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AAFA9"/>
                </a:solidFill>
              </a:defRPr>
            </a:pPr>
            <a:r>
              <a:t>⚖️ Goal Conflict Sensitivity Matrix</a:t>
            </a:r>
          </a:p>
          <a:p>
            <a:pPr>
              <a:lnSpc>
                <a:spcPct val="130000"/>
              </a:lnSpc>
              <a:defRPr sz="1200">
                <a:solidFill>
                  <a:srgbClr val="FEFFFF"/>
                </a:solidFill>
              </a:defRPr>
            </a:pPr>
            <a:r>
              <a:t>Calculates exact cross-elasticities: funding Goal A with an extra ₹5,000/mo reduces Goal B feasibility by 14 pp and delays it by 3.2 months.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103120"/>
            <a:ext cx="3383280" cy="3931920"/>
          </a:xfrm>
          <a:prstGeom prst="rect">
            <a:avLst/>
          </a:prstGeom>
          <a:solidFill>
            <a:srgbClr val="17252A"/>
          </a:solidFill>
          <a:ln w="1905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AAFA9"/>
                </a:solidFill>
              </a:defRPr>
            </a:pPr>
            <a:r>
              <a:t>🔍 Visible Trade-Offs</a:t>
            </a:r>
          </a:p>
          <a:p>
            <a:pPr>
              <a:lnSpc>
                <a:spcPct val="130000"/>
              </a:lnSpc>
              <a:defRPr sz="1200">
                <a:solidFill>
                  <a:srgbClr val="FEFFFF"/>
                </a:solidFill>
              </a:defRPr>
            </a:pPr>
            <a:r>
              <a:t>Eliminates surprise shortfalls by demonstrating mathematical sacrifices before any major spending commitment.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EAEAB"/>
                </a:solidFill>
              </a:defRPr>
            </a:pPr>
            <a:r>
              <a:t>AskAbhi 360 · Grounded Multi-Goal Decision Support Engine · Live at http://localhost:8508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19"/>
          </a:solidFill>
          <a:ln>
            <a:solidFill>
              <a:srgbClr val="0B16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AAFA9"/>
                </a:solidFill>
              </a:defRPr>
            </a:pPr>
            <a:r>
              <a:t>PLANNING UNDER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EFFFF"/>
                </a:solidFill>
              </a:defRPr>
            </a:pPr>
            <a:r>
              <a:t>2,000-Draw Stochastic Monte Carlo Simulation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EAEAB"/>
                </a:solidFill>
              </a:defRPr>
            </a:pPr>
            <a:r>
              <a:t>Simulating correlated asset returns and divergent category inflation under Common Random Numbers.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383280" cy="3931920"/>
          </a:xfrm>
          <a:prstGeom prst="rect">
            <a:avLst/>
          </a:prstGeom>
          <a:solidFill>
            <a:srgbClr val="17252A"/>
          </a:solidFill>
          <a:ln w="1905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AAFA9"/>
                </a:solidFill>
              </a:defRPr>
            </a:pPr>
            <a:r>
              <a:t>📈 Correlated Asset Paths</a:t>
            </a:r>
          </a:p>
          <a:p>
            <a:pPr>
              <a:lnSpc>
                <a:spcPct val="130000"/>
              </a:lnSpc>
              <a:defRPr sz="1200">
                <a:solidFill>
                  <a:srgbClr val="FEFFFF"/>
                </a:solidFill>
              </a:defRPr>
            </a:pPr>
            <a:r>
              <a:t>Cash, Debt, Equity, Gold, and Real Estate modeled via Geometric Brownian Motion with correlated covariance matrices.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103120"/>
            <a:ext cx="3383280" cy="3931920"/>
          </a:xfrm>
          <a:prstGeom prst="rect">
            <a:avLst/>
          </a:prstGeom>
          <a:solidFill>
            <a:srgbClr val="17252A"/>
          </a:solidFill>
          <a:ln w="1905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AAFA9"/>
                </a:solidFill>
              </a:defRPr>
            </a:pPr>
            <a:r>
              <a:t>🏷️ Category-Specific Inflation</a:t>
            </a:r>
          </a:p>
          <a:p>
            <a:pPr>
              <a:lnSpc>
                <a:spcPct val="130000"/>
              </a:lnSpc>
              <a:defRPr sz="1200">
                <a:solidFill>
                  <a:srgbClr val="FEFFFF"/>
                </a:solidFill>
              </a:defRPr>
            </a:pPr>
            <a:r>
              <a:t>Higher Education (8.5%-10%) and Healthcare (9%-11.5%) modeled with accelerated stochastic drift versus CPI (5.5%).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103120"/>
            <a:ext cx="3383280" cy="3931920"/>
          </a:xfrm>
          <a:prstGeom prst="rect">
            <a:avLst/>
          </a:prstGeom>
          <a:solidFill>
            <a:srgbClr val="17252A"/>
          </a:solidFill>
          <a:ln w="1905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AAFA9"/>
                </a:solidFill>
              </a:defRPr>
            </a:pPr>
            <a:r>
              <a:t>🎯 Common Random Numbers (CRN)</a:t>
            </a:r>
          </a:p>
          <a:p>
            <a:pPr>
              <a:lnSpc>
                <a:spcPct val="130000"/>
              </a:lnSpc>
              <a:defRPr sz="1200">
                <a:solidFill>
                  <a:srgbClr val="FEFFFF"/>
                </a:solidFill>
              </a:defRPr>
            </a:pPr>
            <a:r>
              <a:t>Plan comparisons run on identical random seed draws, guaranteeing differences reflect pure decision quality rather than sampling noise.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EAEAB"/>
                </a:solidFill>
              </a:defRPr>
            </a:pPr>
            <a:r>
              <a:t>AskAbhi 360 · Grounded Multi-Goal Decision Support Engine · Live at http://localhost:8508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19"/>
          </a:solidFill>
          <a:ln>
            <a:solidFill>
              <a:srgbClr val="0B16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AAFA9"/>
                </a:solidFill>
              </a:defRPr>
            </a:pPr>
            <a:r>
              <a:t>DECISION SUPPORT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EFFFF"/>
                </a:solidFill>
              </a:defRPr>
            </a:pPr>
            <a:r>
              <a:t>"Can I Afford It?" Purchase Decision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EAEAB"/>
                </a:solidFill>
              </a:defRPr>
            </a:pPr>
            <a:r>
              <a:t>Evaluating major purchases (e.g. ₹4.5 Lakh BMW Motorcycle) against active long-term life plans.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383280" cy="3931920"/>
          </a:xfrm>
          <a:prstGeom prst="rect">
            <a:avLst/>
          </a:prstGeom>
          <a:solidFill>
            <a:srgbClr val="17252A"/>
          </a:solidFill>
          <a:ln w="1905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AAFA9"/>
                </a:solidFill>
              </a:defRPr>
            </a:pPr>
            <a:r>
              <a:t>🛵 Real Scenario Testing</a:t>
            </a:r>
          </a:p>
          <a:p>
            <a:pPr>
              <a:lnSpc>
                <a:spcPct val="130000"/>
              </a:lnSpc>
              <a:defRPr sz="1200">
                <a:solidFill>
                  <a:srgbClr val="FEFFFF"/>
                </a:solidFill>
              </a:defRPr>
            </a:pPr>
            <a:r>
              <a:t>Simulates cash vs 3-year loan EMI (₹11,215/month) on identical reproducible random draws.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103120"/>
            <a:ext cx="3383280" cy="3931920"/>
          </a:xfrm>
          <a:prstGeom prst="rect">
            <a:avLst/>
          </a:prstGeom>
          <a:solidFill>
            <a:srgbClr val="17252A"/>
          </a:solidFill>
          <a:ln w="1905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AAFA9"/>
                </a:solidFill>
              </a:defRPr>
            </a:pPr>
            <a:r>
              <a:t>🔍 The 3 Golden Criteria</a:t>
            </a:r>
          </a:p>
          <a:p>
            <a:pPr>
              <a:lnSpc>
                <a:spcPct val="130000"/>
              </a:lnSpc>
              <a:defRPr sz="1200">
                <a:solidFill>
                  <a:srgbClr val="FEFFFF"/>
                </a:solidFill>
              </a:defRPr>
            </a:pPr>
            <a:r>
              <a:t>1. Liquid emergency floor remains intact; 2. Debt-to-income remains under safe 40% threshold; 3. Core life goals stay feasible.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103120"/>
            <a:ext cx="3383280" cy="3931920"/>
          </a:xfrm>
          <a:prstGeom prst="rect">
            <a:avLst/>
          </a:prstGeom>
          <a:solidFill>
            <a:srgbClr val="17252A"/>
          </a:solidFill>
          <a:ln w="1905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AAFA9"/>
                </a:solidFill>
              </a:defRPr>
            </a:pPr>
            <a:r>
              <a:t>🛠️ Actionable Levers</a:t>
            </a:r>
          </a:p>
          <a:p>
            <a:pPr>
              <a:lnSpc>
                <a:spcPct val="130000"/>
              </a:lnSpc>
              <a:defRPr sz="1200">
                <a:solidFill>
                  <a:srgbClr val="FEFFFF"/>
                </a:solidFill>
              </a:defRPr>
            </a:pPr>
            <a:r>
              <a:t>Recommends exact adjustments (e.g. extend tenure by 12 months or trim weekend leaks by ₹3,500) to keep long-term home goals on track.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EAEAB"/>
                </a:solidFill>
              </a:defRPr>
            </a:pPr>
            <a:r>
              <a:t>AskAbhi 360 · Grounded Multi-Goal Decision Support Engine · Live at http://localhost:8508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19"/>
          </a:solidFill>
          <a:ln>
            <a:solidFill>
              <a:srgbClr val="0B16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AAFA9"/>
                </a:solidFill>
              </a:defRPr>
            </a:pPr>
            <a:r>
              <a:t>STRESS TESTING &amp;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EFFFF"/>
                </a:solidFill>
              </a:defRPr>
            </a:pPr>
            <a:r>
              <a:t>Chaos Money &amp; Algorithmic Non-Worsening Plan Repair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EAEAB"/>
                </a:solidFill>
              </a:defRPr>
            </a:pPr>
            <a:r>
              <a:t>Testing plausible life shocks and generating automated recovery plans without human trial-and-error.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383280" cy="3931920"/>
          </a:xfrm>
          <a:prstGeom prst="rect">
            <a:avLst/>
          </a:prstGeom>
          <a:solidFill>
            <a:srgbClr val="17252A"/>
          </a:solidFill>
          <a:ln w="1905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AAFA9"/>
                </a:solidFill>
              </a:defRPr>
            </a:pPr>
            <a:r>
              <a:t>⚡ Plausible Life Shocks</a:t>
            </a:r>
          </a:p>
          <a:p>
            <a:pPr>
              <a:lnSpc>
                <a:spcPct val="130000"/>
              </a:lnSpc>
              <a:defRPr sz="1200">
                <a:solidFill>
                  <a:srgbClr val="FEFFFF"/>
                </a:solidFill>
              </a:defRPr>
            </a:pPr>
            <a:r>
              <a:t>Simulates 3–6 month job loss, 20% annual salary cuts, and sudden ₹5,00,000 medical emergency outflows.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103120"/>
            <a:ext cx="3383280" cy="3931920"/>
          </a:xfrm>
          <a:prstGeom prst="rect">
            <a:avLst/>
          </a:prstGeom>
          <a:solidFill>
            <a:srgbClr val="17252A"/>
          </a:solidFill>
          <a:ln w="1905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AAFA9"/>
                </a:solidFill>
              </a:defRPr>
            </a:pPr>
            <a:r>
              <a:t>🛠️ Non-Worsening Plan Repair</a:t>
            </a:r>
          </a:p>
          <a:p>
            <a:pPr>
              <a:lnSpc>
                <a:spcPct val="130000"/>
              </a:lnSpc>
              <a:defRPr sz="1200">
                <a:solidFill>
                  <a:srgbClr val="FEFFFF"/>
                </a:solidFill>
              </a:defRPr>
            </a:pPr>
            <a:r>
              <a:t>Algorithmic optimizer rebalances high-interest debt and temporarily pauses soft goals while protecting core retirement and education.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103120"/>
            <a:ext cx="3383280" cy="3931920"/>
          </a:xfrm>
          <a:prstGeom prst="rect">
            <a:avLst/>
          </a:prstGeom>
          <a:solidFill>
            <a:srgbClr val="17252A"/>
          </a:solidFill>
          <a:ln w="1905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AAFA9"/>
                </a:solidFill>
              </a:defRPr>
            </a:pPr>
            <a:r>
              <a:t>📈 Restored Feasibility</a:t>
            </a:r>
          </a:p>
          <a:p>
            <a:pPr>
              <a:lnSpc>
                <a:spcPct val="130000"/>
              </a:lnSpc>
              <a:defRPr sz="1200">
                <a:solidFill>
                  <a:srgbClr val="FEFFFF"/>
                </a:solidFill>
              </a:defRPr>
            </a:pPr>
            <a:r>
              <a:t>Recovers plan probability from 42% back to 85%+ on identical random draws without manual trial-and-error.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EAEAB"/>
                </a:solidFill>
              </a:defRPr>
            </a:pPr>
            <a:r>
              <a:t>AskAbhi 360 · Grounded Multi-Goal Decision Support Engine · Live at http://localhost:8508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19"/>
          </a:solidFill>
          <a:ln>
            <a:solidFill>
              <a:srgbClr val="0B16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AAFA9"/>
                </a:solidFill>
              </a:defRPr>
            </a:pPr>
            <a:r>
              <a:t>BEHAVIOURAL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EFFFF"/>
                </a:solidFill>
              </a:defRPr>
            </a:pPr>
            <a:r>
              <a:t>Behaviour Twin &amp; Rupee-to-Days Leak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EAEAB"/>
                </a:solidFill>
              </a:defRPr>
            </a:pPr>
            <a:r>
              <a:t>Mining real banking and UPI statements to reconcile stated budgets with actual debit habits.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383280" cy="3931920"/>
          </a:xfrm>
          <a:prstGeom prst="rect">
            <a:avLst/>
          </a:prstGeom>
          <a:solidFill>
            <a:srgbClr val="17252A"/>
          </a:solidFill>
          <a:ln w="1905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AAFA9"/>
                </a:solidFill>
              </a:defRPr>
            </a:pPr>
            <a:r>
              <a:t>🧠 Behavioural Diagnostics</a:t>
            </a:r>
          </a:p>
          <a:p>
            <a:pPr>
              <a:lnSpc>
                <a:spcPct val="130000"/>
              </a:lnSpc>
              <a:defRPr sz="1200">
                <a:solidFill>
                  <a:srgbClr val="FEFFFF"/>
                </a:solidFill>
              </a:defRPr>
            </a:pPr>
            <a:r>
              <a:t>Extracts Weekend Spending Multiplier (1.85x), Payday Burst Splurge (38% in first 5 days), and Month-End Cash Squeeze.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103120"/>
            <a:ext cx="3383280" cy="3931920"/>
          </a:xfrm>
          <a:prstGeom prst="rect">
            <a:avLst/>
          </a:prstGeom>
          <a:solidFill>
            <a:srgbClr val="17252A"/>
          </a:solidFill>
          <a:ln w="1905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AAFA9"/>
                </a:solidFill>
              </a:defRPr>
            </a:pPr>
            <a:r>
              <a:t>📈 Lifestyle Creep Slope</a:t>
            </a:r>
          </a:p>
          <a:p>
            <a:pPr>
              <a:lnSpc>
                <a:spcPct val="130000"/>
              </a:lnSpc>
              <a:defRPr sz="1200">
                <a:solidFill>
                  <a:srgbClr val="FEFFFF"/>
                </a:solidFill>
              </a:defRPr>
            </a:pPr>
            <a:r>
              <a:t>Calculates upward drift rate (+₹1,240/month) and identifies unviewed recurring subscriptions.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103120"/>
            <a:ext cx="3383280" cy="3931920"/>
          </a:xfrm>
          <a:prstGeom prst="rect">
            <a:avLst/>
          </a:prstGeom>
          <a:solidFill>
            <a:srgbClr val="17252A"/>
          </a:solidFill>
          <a:ln w="1905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AAFA9"/>
                </a:solidFill>
              </a:defRPr>
            </a:pPr>
            <a:r>
              <a:t>⏱️ Rupee-to-Days Leak Detector</a:t>
            </a:r>
          </a:p>
          <a:p>
            <a:pPr>
              <a:lnSpc>
                <a:spcPct val="130000"/>
              </a:lnSpc>
              <a:defRPr sz="1200">
                <a:solidFill>
                  <a:srgbClr val="FEFFFF"/>
                </a:solidFill>
              </a:defRPr>
            </a:pPr>
            <a:r>
              <a:t>Translates discretionary spending directly into timeline gains: trimming ₹3,200/mo on food delivery recovers 54 days on home goal!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EAEAB"/>
                </a:solidFill>
              </a:defRPr>
            </a:pPr>
            <a:r>
              <a:t>AskAbhi 360 · Grounded Multi-Goal Decision Support Engine · Live at http://localhost:8508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19"/>
          </a:solidFill>
          <a:ln>
            <a:solidFill>
              <a:srgbClr val="0B16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AAFA9"/>
                </a:solidFill>
              </a:defRPr>
            </a:pPr>
            <a:r>
              <a:t>OPERATING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EFFFF"/>
                </a:solidFill>
              </a:defRPr>
            </a:pPr>
            <a:r>
              <a:t>Strategy Modes: 🛡️ Value Mode vs 🚀 Turbo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EAEAB"/>
                </a:solidFill>
              </a:defRPr>
            </a:pPr>
            <a:r>
              <a:t>Empowering users to toggle between defensive resilience and aggressive milestone acceleration.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383280" cy="3931920"/>
          </a:xfrm>
          <a:prstGeom prst="rect">
            <a:avLst/>
          </a:prstGeom>
          <a:solidFill>
            <a:srgbClr val="17252A"/>
          </a:solidFill>
          <a:ln w="1905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AAFA9"/>
                </a:solidFill>
              </a:defRPr>
            </a:pPr>
            <a:r>
              <a:t>🛡️ Value Mode (Prudent / Defensive)</a:t>
            </a:r>
          </a:p>
          <a:p>
            <a:pPr>
              <a:lnSpc>
                <a:spcPct val="130000"/>
              </a:lnSpc>
              <a:defRPr sz="1200">
                <a:solidFill>
                  <a:srgbClr val="FEFFFF"/>
                </a:solidFill>
              </a:defRPr>
            </a:pPr>
            <a:r>
              <a:t>Strict 6-month liquid cushion, +25% monthly savings rate, relaxed daily spend, and guaranteed debt safety under severe volatility.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103120"/>
            <a:ext cx="3383280" cy="3931920"/>
          </a:xfrm>
          <a:prstGeom prst="rect">
            <a:avLst/>
          </a:prstGeom>
          <a:solidFill>
            <a:srgbClr val="17252A"/>
          </a:solidFill>
          <a:ln w="1905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AAFA9"/>
                </a:solidFill>
              </a:defRPr>
            </a:pPr>
            <a:r>
              <a:t>🚀 Turbo Mode (Goal Accelerator)</a:t>
            </a:r>
          </a:p>
          <a:p>
            <a:pPr>
              <a:lnSpc>
                <a:spcPct val="130000"/>
              </a:lnSpc>
              <a:defRPr sz="1200">
                <a:solidFill>
                  <a:srgbClr val="FEFFFF"/>
                </a:solidFill>
              </a:defRPr>
            </a:pPr>
            <a:r>
              <a:t>3-month cushion, +40% savings velocity, 20% trim on non-priority leaks redirected to goals, achieving milestones 6–9 months sooner!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103120"/>
            <a:ext cx="3383280" cy="3931920"/>
          </a:xfrm>
          <a:prstGeom prst="rect">
            <a:avLst/>
          </a:prstGeom>
          <a:solidFill>
            <a:srgbClr val="17252A"/>
          </a:solidFill>
          <a:ln w="1905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AAFA9"/>
                </a:solidFill>
              </a:defRPr>
            </a:pPr>
            <a:r>
              <a:t>⚡ Real-Time Recalculation</a:t>
            </a:r>
          </a:p>
          <a:p>
            <a:pPr>
              <a:lnSpc>
                <a:spcPct val="130000"/>
              </a:lnSpc>
              <a:defRPr sz="1200">
                <a:solidFill>
                  <a:srgbClr val="FEFFFF"/>
                </a:solidFill>
              </a:defRPr>
            </a:pPr>
            <a:r>
              <a:t>One-click toggle instantly shifts all dashboard recommendations, advice feeds, and goal timelines.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EAEAB"/>
                </a:solidFill>
              </a:defRPr>
            </a:pPr>
            <a:r>
              <a:t>AskAbhi 360 · Grounded Multi-Goal Decision Support Engine · Live at http://localhost:8508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19"/>
          </a:solidFill>
          <a:ln>
            <a:solidFill>
              <a:srgbClr val="0B16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AAFA9"/>
                </a:solidFill>
              </a:defRPr>
            </a:pPr>
            <a:r>
              <a:t>CONCLUSION &amp; HACKATHON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EFFFF"/>
                </a:solidFill>
              </a:defRPr>
            </a:pPr>
            <a:r>
              <a:t>How AskAbhi 360 Delivers the F-02 Mandate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EAEAB"/>
                </a:solidFill>
              </a:defRPr>
            </a:pPr>
            <a:r>
              <a:t>A production-grade, interactive, decision-support solution for multi-goal financial life.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383280" cy="3931920"/>
          </a:xfrm>
          <a:prstGeom prst="rect">
            <a:avLst/>
          </a:prstGeom>
          <a:solidFill>
            <a:srgbClr val="17252A"/>
          </a:solidFill>
          <a:ln w="1905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AAFA9"/>
                </a:solidFill>
              </a:defRPr>
            </a:pPr>
            <a:r>
              <a:t>🏆 Complete Problem Coverage</a:t>
            </a:r>
          </a:p>
          <a:p>
            <a:pPr>
              <a:lnSpc>
                <a:spcPct val="130000"/>
              </a:lnSpc>
              <a:defRPr sz="1200">
                <a:solidFill>
                  <a:srgbClr val="FEFFFF"/>
                </a:solidFill>
              </a:defRPr>
            </a:pPr>
            <a:r>
              <a:t>Handles competing goals, stochastic uncertainty, life shocks, trade-off communication, and behavioural spending reality.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103120"/>
            <a:ext cx="3383280" cy="3931920"/>
          </a:xfrm>
          <a:prstGeom prst="rect">
            <a:avLst/>
          </a:prstGeom>
          <a:solidFill>
            <a:srgbClr val="17252A"/>
          </a:solidFill>
          <a:ln w="1905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AAFA9"/>
                </a:solidFill>
              </a:defRPr>
            </a:pPr>
            <a:r>
              <a:t>🚀 Zero Hallucinations Guarantee</a:t>
            </a:r>
          </a:p>
          <a:p>
            <a:pPr>
              <a:lnSpc>
                <a:spcPct val="130000"/>
              </a:lnSpc>
              <a:defRPr sz="1200">
                <a:solidFill>
                  <a:srgbClr val="FEFFFF"/>
                </a:solidFill>
              </a:defRPr>
            </a:pPr>
            <a:r>
              <a:t>Deterministic Python math engine guarantees 100% auditability and verifiable proofs.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103120"/>
            <a:ext cx="3383280" cy="3931920"/>
          </a:xfrm>
          <a:prstGeom prst="rect">
            <a:avLst/>
          </a:prstGeom>
          <a:solidFill>
            <a:srgbClr val="17252A"/>
          </a:solidFill>
          <a:ln w="1905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AAFA9"/>
                </a:solidFill>
              </a:defRPr>
            </a:pPr>
            <a:r>
              <a:t>🎯 Production-Ready FinTech UX</a:t>
            </a:r>
          </a:p>
          <a:p>
            <a:pPr>
              <a:lnSpc>
                <a:spcPct val="130000"/>
              </a:lnSpc>
              <a:defRPr sz="1200">
                <a:solidFill>
                  <a:srgbClr val="FEFFFF"/>
                </a:solidFill>
              </a:defRPr>
            </a:pPr>
            <a:r>
              <a:t>PhonePe-style UPI rails, vector QR scanner, Web Audio API sound effects, celebratory payment animations, and responsive layout.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EAEAB"/>
                </a:solidFill>
              </a:defRPr>
            </a:pPr>
            <a:r>
              <a:t>AskAbhi 360 · Grounded Multi-Goal Decision Support Engine · Live at http://localhost:8508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